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1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Smartphone</c:v>
                </c:pt>
                <c:pt idx="1">
                  <c:v>Laptop</c:v>
                </c:pt>
                <c:pt idx="2">
                  <c:v>Tablet</c:v>
                </c:pt>
                <c:pt idx="3">
                  <c:v>Headphones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0.112</c:v>
                </c:pt>
                <c:pt idx="1">
                  <c:v>9.1999999999999998E-2</c:v>
                </c:pt>
                <c:pt idx="2">
                  <c:v>7.5999999999999998E-2</c:v>
                </c:pt>
                <c:pt idx="3">
                  <c:v>6.0999999999999999E-2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88B-405F-A21D-576E62D526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D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D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55A"/>
        </a:solidFill>
        <a:ln w="12700" cap="flat">
          <a:solidFill>
            <a:srgbClr val="16255A"/>
          </a:solidFill>
        </a:ln>
        <a:effectLst/>
      </c:spPr>
    </c:plotArea>
    <c:plotVisOnly val="1"/>
    <c:dispBlanksAs val="span"/>
    <c:showDLblsOverMax val="1"/>
  </c:chart>
  <c:spPr>
    <a:solidFill>
      <a:srgbClr val="1625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B7-4754-B696-507FBB6867B6}"/>
              </c:ext>
            </c:extLst>
          </c:dPt>
          <c:dPt>
            <c:idx val="1"/>
            <c:bubble3D val="0"/>
            <c:spPr>
              <a:solidFill>
                <a:srgbClr val="E052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B7-4754-B696-507FBB6867B6}"/>
              </c:ext>
            </c:extLst>
          </c:dPt>
          <c:dPt>
            <c:idx val="2"/>
            <c:bubble3D val="0"/>
            <c:spPr>
              <a:solidFill>
                <a:srgbClr val="F5B8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B7-4754-B696-507FBB6867B6}"/>
              </c:ext>
            </c:extLst>
          </c:dPt>
          <c:dPt>
            <c:idx val="3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B7-4754-B696-507FBB6867B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1430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B7-4754-B696-507FBB6867B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1430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B7-4754-B696-507FBB6867B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1430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B7-4754-B696-507FBB6867B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1430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AB7-4754-B696-507FBB6867B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Smartphone</c:v>
                </c:pt>
                <c:pt idx="1">
                  <c:v>Laptop</c:v>
                </c:pt>
                <c:pt idx="2">
                  <c:v>Tablet</c:v>
                </c:pt>
                <c:pt idx="3">
                  <c:v>Headphones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25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B7-4754-B696-507FBB6867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6255A"/>
        </a:solidFill>
        <a:ln w="12700" cap="flat">
          <a:solidFill>
            <a:srgbClr val="16255A"/>
          </a:solidFill>
        </a:ln>
        <a:effectLst/>
      </c:spPr>
    </c:plotArea>
    <c:plotVisOnly val="1"/>
    <c:dispBlanksAs val="span"/>
    <c:showDLblsOverMax val="1"/>
  </c:chart>
  <c:spPr>
    <a:solidFill>
      <a:srgbClr val="16255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(K)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22-45E7-8338-CB30C2310621}"/>
              </c:ext>
            </c:extLst>
          </c:dPt>
          <c:dPt>
            <c:idx val="1"/>
            <c:bubble3D val="0"/>
            <c:spPr>
              <a:solidFill>
                <a:srgbClr val="E052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22-45E7-8338-CB30C2310621}"/>
              </c:ext>
            </c:extLst>
          </c:dPt>
          <c:dPt>
            <c:idx val="2"/>
            <c:bubble3D val="0"/>
            <c:spPr>
              <a:solidFill>
                <a:srgbClr val="F5B8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22-45E7-8338-CB30C2310621}"/>
              </c:ext>
            </c:extLst>
          </c:dPt>
          <c:dPt>
            <c:idx val="3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622-45E7-8338-CB30C231062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22-45E7-8338-CB30C231062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22-45E7-8338-CB30C231062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22-45E7-8338-CB30C231062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622-45E7-8338-CB30C231062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Smartphone</c:v>
                </c:pt>
                <c:pt idx="1">
                  <c:v>Laptop</c:v>
                </c:pt>
                <c:pt idx="2">
                  <c:v>Tablet</c:v>
                </c:pt>
                <c:pt idx="3">
                  <c:v>Headphones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3.1</c:v>
                </c:pt>
                <c:pt idx="2">
                  <c:v>3</c:v>
                </c:pt>
                <c:pt idx="3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22-45E7-8338-CB30C2310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16255A"/>
        </a:solidFill>
        <a:ln w="12700" cap="flat">
          <a:solidFill>
            <a:srgbClr val="16255A"/>
          </a:solidFill>
        </a:ln>
        <a:effectLst/>
      </c:spPr>
    </c:plotArea>
    <c:plotVisOnly val="1"/>
    <c:dispBlanksAs val="span"/>
    <c:showDLblsOverMax val="1"/>
  </c:chart>
  <c:spPr>
    <a:solidFill>
      <a:srgbClr val="16255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28.4</c:v>
                </c:pt>
                <c:pt idx="1">
                  <c:v>26.1</c:v>
                </c:pt>
                <c:pt idx="2">
                  <c:v>29.8</c:v>
                </c:pt>
                <c:pt idx="3">
                  <c:v>27.3</c:v>
                </c:pt>
                <c:pt idx="4">
                  <c:v>30.6</c:v>
                </c:pt>
                <c:pt idx="5">
                  <c:v>31.9</c:v>
                </c:pt>
                <c:pt idx="6">
                  <c:v>29.2</c:v>
                </c:pt>
                <c:pt idx="7">
                  <c:v>28</c:v>
                </c:pt>
                <c:pt idx="8">
                  <c:v>26.4</c:v>
                </c:pt>
                <c:pt idx="9">
                  <c:v>30.1</c:v>
                </c:pt>
                <c:pt idx="10">
                  <c:v>33.700000000000003</c:v>
                </c:pt>
                <c:pt idx="11">
                  <c:v>36.200000000000003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3F7-4A25-860B-B3C63F547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D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D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55A"/>
        </a:solidFill>
        <a:ln w="12700" cap="flat">
          <a:solidFill>
            <a:srgbClr val="16255A"/>
          </a:solidFill>
        </a:ln>
        <a:effectLst/>
      </c:spPr>
    </c:plotArea>
    <c:plotVisOnly val="1"/>
    <c:dispBlanksAs val="span"/>
    <c:showDLblsOverMax val="1"/>
  </c:chart>
  <c:spPr>
    <a:solidFill>
      <a:srgbClr val="16255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B4-4BB4-A6A7-E69ED516A99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FB4-4BB4-A6A7-E69ED516A99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FB4-4BB4-A6A7-E69ED516A99A}"/>
              </c:ext>
            </c:extLst>
          </c:dPt>
          <c:dPt>
            <c:idx val="3"/>
            <c:invertIfNegative val="0"/>
            <c:bubble3D val="0"/>
            <c:spPr>
              <a:solidFill>
                <a:srgbClr val="E052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B4-4BB4-A6A7-E69ED516A99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84.3</c:v>
                </c:pt>
                <c:pt idx="1">
                  <c:v>89.8</c:v>
                </c:pt>
                <c:pt idx="2">
                  <c:v>83.6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FB4-4BB4-A6A7-E69ED516A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D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D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55A"/>
        </a:solidFill>
        <a:ln w="12700" cap="flat">
          <a:solidFill>
            <a:srgbClr val="16255A"/>
          </a:solidFill>
        </a:ln>
        <a:effectLst/>
      </c:spPr>
    </c:plotArea>
    <c:plotVisOnly val="1"/>
    <c:dispBlanksAs val="span"/>
    <c:showDLblsOverMax val="1"/>
  </c:chart>
  <c:spPr>
    <a:solidFill>
      <a:srgbClr val="1625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11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052C8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00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PERFORMANCE REVIEW</a:t>
            </a:r>
            <a:endParaRPr lang="en-US" sz="13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Report 2026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dashboard tells us about products, profit, and momentum</a:t>
            </a:r>
            <a:endParaRPr lang="en-US" sz="160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886200"/>
            <a:ext cx="1463040" cy="36576"/>
          </a:xfrm>
          <a:prstGeom prst="rect">
            <a:avLst/>
          </a:prstGeom>
          <a:solidFill>
            <a:srgbClr val="E052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E90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products  |  Twelve months  |  ₹75M total profit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8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8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year in four numbers</a:t>
            </a:r>
            <a:endParaRPr lang="en-US" sz="2500"/>
          </a:p>
        </p:txBody>
      </p:sp>
      <p:sp>
        <p:nvSpPr>
          <p:cNvPr id="3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43000"/>
            <a:ext cx="20116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22D3EE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₹75M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 across all products</a:t>
            </a:r>
            <a:endParaRPr lang="en-US" sz="1100"/>
          </a:p>
        </p:txBody>
      </p:sp>
      <p:sp>
        <p:nvSpPr>
          <p:cNvPr id="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1143000"/>
            <a:ext cx="20116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E052C8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0" y="1307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052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14.3K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274320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sold, all products</a:t>
            </a:r>
            <a:endParaRPr lang="en-US" sz="1100"/>
          </a:p>
        </p:txBody>
      </p:sp>
      <p:sp>
        <p:nvSpPr>
          <p:cNvPr id="9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143000"/>
            <a:ext cx="20116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F5B841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307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5B8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36%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493776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share held by Smartphone</a:t>
            </a:r>
            <a:endParaRPr lang="en-US" sz="1100"/>
          </a:p>
        </p:txBody>
      </p:sp>
      <p:sp>
        <p:nvSpPr>
          <p:cNvPr id="12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1143000"/>
            <a:ext cx="173736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34D39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0" y="13075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7132320" y="1947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sales month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11480" y="278892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is concentrated: Smartphone and Laptop together deliver roughly ₹52M of the ₹75M total.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sales step down cleanly from Smartphone to Headphones — volume and price move in the same direction.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monthly curve is broadly flat through the middle of the year, then lifts sharply in Q4.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Headphones are the clear laggard on both profit and units and need a decision.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10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159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212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26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3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371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424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477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5000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50000" fill="hold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50000" fill="hold" grpId="0" nodeType="withEffect">
                                  <p:stCondLst>
                                    <p:cond delay="63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50000" fill="hold" grpId="0" nodeType="withEffect">
                                  <p:stCondLst>
                                    <p:cond delay="689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report measures</a:t>
            </a:r>
            <a:endParaRPr lang="en-US" sz="2500"/>
          </a:p>
        </p:txBody>
      </p:sp>
      <p:sp>
        <p:nvSpPr>
          <p:cNvPr id="3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43000"/>
            <a:ext cx="40690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22D3EE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43000"/>
            <a:ext cx="64008" cy="14173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7512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Sales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67512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by product and by month, filterable to any month.</a:t>
            </a:r>
            <a:endParaRPr lang="en-US" sz="1200"/>
          </a:p>
        </p:txBody>
      </p:sp>
      <p:sp>
        <p:nvSpPr>
          <p:cNvPr id="7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143000"/>
            <a:ext cx="40690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E052C8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143000"/>
            <a:ext cx="64008" cy="1417320"/>
          </a:xfrm>
          <a:prstGeom prst="rect">
            <a:avLst/>
          </a:prstGeom>
          <a:solidFill>
            <a:srgbClr val="E052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19472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919472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and per-product profit, shown as share of the ₹75M pool.</a:t>
            </a:r>
            <a:endParaRPr lang="en-US" sz="1200"/>
          </a:p>
        </p:txBody>
      </p:sp>
      <p:sp>
        <p:nvSpPr>
          <p:cNvPr id="11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743200"/>
            <a:ext cx="40690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F5B841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743200"/>
            <a:ext cx="64008" cy="1417320"/>
          </a:xfrm>
          <a:prstGeom prst="rect">
            <a:avLst/>
          </a:prstGeom>
          <a:solidFill>
            <a:srgbClr val="F5B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7512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Sold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67512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by product, the counterweight to the revenue view.</a:t>
            </a:r>
            <a:endParaRPr lang="en-US" sz="1200"/>
          </a:p>
        </p:txBody>
      </p:sp>
      <p:sp>
        <p:nvSpPr>
          <p:cNvPr id="15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743200"/>
            <a:ext cx="4069080" cy="1417320"/>
          </a:xfrm>
          <a:prstGeom prst="rect">
            <a:avLst/>
          </a:prstGeom>
          <a:solidFill>
            <a:srgbClr val="16255A"/>
          </a:solidFill>
          <a:ln w="9525">
            <a:solidFill>
              <a:srgbClr val="34D39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743200"/>
            <a:ext cx="64008" cy="14173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19472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Filter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4919472" y="3337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Smartphone, Laptop, Tablet, Headphones — or all together.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E8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figure in this deck is read from the Sales Report 2026 dashboard.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₹75M of profit, unevenly earned</a:t>
            </a:r>
            <a:endParaRPr lang="en-US" sz="2500"/>
          </a:p>
        </p:txBody>
      </p:sp>
      <p:sp>
        <p:nvSpPr>
          <p:cNvPr id="3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234440"/>
            <a:ext cx="3291840" cy="2743200"/>
          </a:xfrm>
          <a:prstGeom prst="rect">
            <a:avLst/>
          </a:prstGeom>
          <a:solidFill>
            <a:srgbClr val="16255A"/>
          </a:solidFill>
          <a:ln w="9525">
            <a:solidFill>
              <a:srgbClr val="22D3EE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₹75M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of Profit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E8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four products, full year 2026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977640" y="12801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products carry the year. Smartphone (₹27M) and Laptop (₹25M) account for about 69% of total profit.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 contributes a solid but secondary ₹15M — roughly one fifth of the pool.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Headphones return ₹8M, the smallest slice despite a non-trivial unit count.</a:t>
            </a:r>
            <a:endParaRPr lang="en-US"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concentration is the story: performance in 2026 is really a story about two products.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decel="5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sales fall steadily across the product line</a:t>
            </a:r>
            <a:endParaRPr lang="en-US" sz="2500"/>
          </a:p>
        </p:txBody>
      </p:sp>
      <p:graphicFrame>
        <p:nvGraphicFramePr>
          <p:cNvPr id="3" name="Net sales by product chart" descr="Line chart of net sales by product: Smartphone 0.112m, Laptop 0.092m, Tablet 0.076m, Headphones 0.061m."/>
          <p:cNvGraphicFramePr/>
          <p:nvPr/>
        </p:nvGraphicFramePr>
        <p:xfrm>
          <a:off x="411480" y="10972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715000" y="11887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 leads at ₹0.112m net sales per the report's product view.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successive product gives up roughly 18–20% of the one before it.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crossover — ranking by revenue matches ranking by profit.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smooth decline like this usually means pricing, not demand shocks, sets the order.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90)+0.14416*(0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90)+0.27304*(0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90)+0.38576*(0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90)+0.48262*(0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90)+0.56479*(0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90)+0.63397*(0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90)+0.69198*(0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90)+0.74056*(0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90)+0.78128*(0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90)+0.81547*(0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90)+0.84426*(0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90)+0.86854*(0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90)+0.88909*(0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90)+0.90650*(0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90)+0.92128*(0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90)+0.93384*(0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90)+0.94453*(0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90)+0.95363*(0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90)+0.96137*(0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90)+0.96795*(0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90)+0.97356*(0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90)+0.97848*(0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90)+0.98283*(0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90)+0.98663*(0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90)+0.98993*(0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90)+0.99274*(0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90)+0.99510*(0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90)+0.99701*(0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90)+0.99848*(0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90)+0.99951*(0)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90)+0.14416*(0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90)+0.27304*(0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90)+0.38576*(0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90)+0.48262*(0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90)+0.56479*(0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90)+0.63397*(0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90)+0.69198*(0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90)+0.74056*(0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90)+0.78128*(0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90)+0.81547*(0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90)+0.84426*(0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90)+0.86854*(0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90)+0.88909*(0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90)+0.90650*(0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90)+0.92128*(0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90)+0.93384*(0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90)+0.94453*(0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90)+0.95363*(0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90)+0.96137*(0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90)+0.96795*(0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90)+0.97356*(0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90)+0.97848*(0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90)+0.98283*(0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90)+0.98663*(0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90)+0.98993*(0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90)+0.99274*(0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90)+0.99510*(0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90)+0.99701*(0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90)+0.99848*(0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90)+0.99951*(0)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1" presetClass="entr" presetSubtype="0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90)+0.14416*(0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90)+0.27304*(0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90)+0.38576*(0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90)+0.48262*(0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90)+0.56479*(0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90)+0.63397*(0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90)+0.69198*(0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90)+0.74056*(0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90)+0.78128*(0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90)+0.81547*(0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90)+0.84426*(0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90)+0.86854*(0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90)+0.88909*(0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90)+0.90650*(0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90)+0.92128*(0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90)+0.93384*(0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90)+0.94453*(0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90)+0.95363*(0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90)+0.96137*(0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90)+0.96795*(0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90)+0.97356*(0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90)+0.97848*(0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90)+0.98283*(0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90)+0.98663*(0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90)+0.98993*(0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90)+0.99274*(0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90)+0.99510*(0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90)+0.99701*(0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90)+0.99848*(0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90)+0.99951*(0)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share: two products, two thirds</a:t>
            </a:r>
            <a:endParaRPr lang="en-US" sz="2500"/>
          </a:p>
        </p:txBody>
      </p:sp>
      <p:graphicFrame>
        <p:nvGraphicFramePr>
          <p:cNvPr id="3" name="Profit by product chart" descr="Pie chart of profit by product: Smartphone ₹27M, Laptop ₹25M, Tablet ₹15M, Headphones ₹8M."/>
          <p:cNvGraphicFramePr/>
          <p:nvPr/>
        </p:nvGraphicFramePr>
        <p:xfrm>
          <a:off x="411480" y="105156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wat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371600"/>
            <a:ext cx="82296" cy="5029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8064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5806440" y="1627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₹27M  ·  36% of total</a:t>
            </a:r>
            <a:endParaRPr lang="en-US" sz="1100"/>
          </a:p>
        </p:txBody>
      </p:sp>
      <p:sp>
        <p:nvSpPr>
          <p:cNvPr id="7" name="swat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057400"/>
            <a:ext cx="82296" cy="502920"/>
          </a:xfrm>
          <a:prstGeom prst="rect">
            <a:avLst/>
          </a:prstGeom>
          <a:solidFill>
            <a:srgbClr val="E052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0644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5806440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₹25M  ·  33% of total</a:t>
            </a:r>
            <a:endParaRPr lang="en-US" sz="1100"/>
          </a:p>
        </p:txBody>
      </p:sp>
      <p:sp>
        <p:nvSpPr>
          <p:cNvPr id="10" name="swat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743200"/>
            <a:ext cx="82296" cy="502920"/>
          </a:xfrm>
          <a:prstGeom prst="rect">
            <a:avLst/>
          </a:prstGeom>
          <a:solidFill>
            <a:srgbClr val="F5B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0644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5806440" y="2999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₹15M  ·  20% of total</a:t>
            </a:r>
            <a:endParaRPr lang="en-US" sz="1100"/>
          </a:p>
        </p:txBody>
      </p:sp>
      <p:sp>
        <p:nvSpPr>
          <p:cNvPr id="13" name="swatc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429000"/>
            <a:ext cx="82296" cy="5029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064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Headphones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5806440" y="3685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₹8M  ·  11% of total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10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159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1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6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318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37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42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477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636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689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tells the same story as value</a:t>
            </a:r>
            <a:endParaRPr lang="en-US" sz="2500"/>
          </a:p>
        </p:txBody>
      </p:sp>
      <p:graphicFrame>
        <p:nvGraphicFramePr>
          <p:cNvPr id="3" name="Units sold by product chart" descr="Doughnut chart of units sold: Smartphone 6.0K, Laptop 3.1K, Tablet 3.0K, Headphones 2.2K."/>
          <p:cNvGraphicFramePr/>
          <p:nvPr/>
        </p:nvGraphicFramePr>
        <p:xfrm>
          <a:off x="411480" y="105156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577840" y="118872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 moves 6.0K units — about 42% of all volume.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and Tablet are near-identical on units (3.1K vs 3.0K) yet Laptop earns ₹10M more profit.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gap is the margin signal: Laptop converts the same volume into far more value.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Headphones' 2.2K units produce the thinnest return of any product.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and value side by side</a:t>
            </a:r>
            <a:endParaRPr lang="en-US" sz="25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A1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A1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Units (K)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A1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Profit (₹M)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A1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Profit / unit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0A1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profit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Smartphone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₹4.5K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36%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Laptop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3.1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₹8.1K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33%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Tablet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₹5.0K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Headphones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2.2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₹3.6K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11%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14.3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₹5.2K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DCE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25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37033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earns ₹8.1K per unit — nearly double Smartphone's ₹4.5K. </a:t>
            </a:r>
            <a:r>
              <a:rPr lang="en-US" sz="13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 wins on scale; Laptop wins on margin. Any growth plan has to choose which lever it is pulling.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E8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per unit derived from the dashboard's profit and units-sold measures.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flat year that finishes strong</a:t>
            </a:r>
            <a:endParaRPr lang="en-US" sz="2500"/>
          </a:p>
        </p:txBody>
      </p:sp>
      <p:graphicFrame>
        <p:nvGraphicFramePr>
          <p:cNvPr id="3" name="Monthly net sales chart" descr="Line chart of monthly net sales rising from about ₹28M in January to ₹36M in December, peaking in Q4."/>
          <p:cNvGraphicFramePr/>
          <p:nvPr/>
        </p:nvGraphicFramePr>
        <p:xfrm>
          <a:off x="411480" y="1097280"/>
          <a:ext cx="8321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3977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Months one through nine hold a narrow ₹26M–₹32M band. The lift only arrives in November and December, which together add roughly ₹70M of net sales — the single clearest seasonal effect in the report.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quarters land</a:t>
            </a:r>
            <a:endParaRPr lang="en-US" sz="2500"/>
          </a:p>
        </p:txBody>
      </p:sp>
      <p:graphicFrame>
        <p:nvGraphicFramePr>
          <p:cNvPr id="3" name="Quarterly net sales chart" descr="Column chart of quarterly net sales: Q1 ₹84.3M, Q2 ₹89.8M, Q3 ₹83.6M, Q4 ₹100.0M."/>
          <p:cNvGraphicFramePr/>
          <p:nvPr/>
        </p:nvGraphicFramePr>
        <p:xfrm>
          <a:off x="411480" y="109728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577840" y="118872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is the outlier quarter at ₹100M, about 19% ahead of the Q1–Q3 average.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is the weakest — the summer months give back the gains Q2 made.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three quarters vary by only ₹6M between them: demand is stable, not growing.</a:t>
            </a:r>
            <a:endParaRPr lang="en-US" sz="12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should treat Q4 as the earnings quarter and Q1–Q3 as the base.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E052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VIEW</a:t>
            </a:r>
            <a:endParaRPr lang="en-US" sz="13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product stories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each product earns its place — and where it does not.</a:t>
            </a:r>
            <a:endParaRPr lang="en-US" sz="150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Smartphone: the volume engine</a:t>
            </a:r>
            <a:endParaRPr lang="en-US" sz="2500"/>
          </a:p>
        </p:txBody>
      </p:sp>
      <p:sp>
        <p:nvSpPr>
          <p:cNvPr id="3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solidFill>
            <a:srgbClr val="16255A"/>
          </a:solidFill>
          <a:ln w="9525">
            <a:solidFill>
              <a:srgbClr val="22D3EE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₹27M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— largest single contributor</a:t>
            </a:r>
            <a:endParaRPr lang="en-US" sz="1100"/>
          </a:p>
        </p:txBody>
      </p:sp>
      <p:sp>
        <p:nvSpPr>
          <p:cNvPr id="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solidFill>
            <a:srgbClr val="16255A"/>
          </a:solidFill>
          <a:ln w="9525">
            <a:solidFill>
              <a:srgbClr val="22D3EE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6.0K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338328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— 42% of all volume</a:t>
            </a:r>
            <a:endParaRPr lang="en-US" sz="1100"/>
          </a:p>
        </p:txBody>
      </p:sp>
      <p:sp>
        <p:nvSpPr>
          <p:cNvPr id="9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solidFill>
            <a:srgbClr val="16255A"/>
          </a:solidFill>
          <a:ln w="9525">
            <a:solidFill>
              <a:srgbClr val="F5B841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5B8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₹4.5K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621792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per unit — below average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 is the top line on every measure in the report except margin.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carries the highest net sales (₹0.112m) and the highest profit share (36%).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its profit per unit sits below the ₹5.2K portfolio average — scale is doing the work.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Risk: the business's largest profit pool is also its most price-sensitive one. A discount cycle here moves the whole year.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Opportunity: even a small per-unit margin gain applies across 6.0K units.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decel="5000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5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decel="5000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5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5000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decel="5000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and Tablet: same volume, different value</a:t>
            </a:r>
            <a:endParaRPr lang="en-US" sz="2500"/>
          </a:p>
        </p:txBody>
      </p:sp>
      <p:sp>
        <p:nvSpPr>
          <p:cNvPr id="3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097280"/>
            <a:ext cx="4069080" cy="3108960"/>
          </a:xfrm>
          <a:prstGeom prst="rect">
            <a:avLst/>
          </a:prstGeom>
          <a:solidFill>
            <a:srgbClr val="16255A"/>
          </a:solidFill>
          <a:ln w="9525">
            <a:solidFill>
              <a:srgbClr val="E052C8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097280"/>
            <a:ext cx="4069080" cy="64008"/>
          </a:xfrm>
          <a:prstGeom prst="rect">
            <a:avLst/>
          </a:prstGeom>
          <a:solidFill>
            <a:srgbClr val="E052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052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₹25M profit  ·  3.1K units  ·  ₹8.1K per unit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most efficient product in the portfolio.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33% of profit on just 22% of units.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Nearly matches Smartphone's profit at half the volume.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obvious candidate for growth investment.</a:t>
            </a:r>
            <a:endParaRPr lang="en-US" sz="1200"/>
          </a:p>
        </p:txBody>
      </p:sp>
      <p:sp>
        <p:nvSpPr>
          <p:cNvPr id="8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4069080" cy="3108960"/>
          </a:xfrm>
          <a:prstGeom prst="rect">
            <a:avLst/>
          </a:prstGeom>
          <a:solidFill>
            <a:srgbClr val="16255A"/>
          </a:solidFill>
          <a:ln w="9525">
            <a:solidFill>
              <a:srgbClr val="F5B841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097280"/>
            <a:ext cx="4069080" cy="64008"/>
          </a:xfrm>
          <a:prstGeom prst="rect">
            <a:avLst/>
          </a:prstGeom>
          <a:solidFill>
            <a:srgbClr val="F5B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5B8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₹15M profit  ·  3.0K units  ·  ₹5.0K per unit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910328" y="214884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Sells almost exactly as many units as Laptop.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₹10M less profit on that same volume.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Sits close to the portfolio average on margin.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pricing question, not a demand question.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Headphones: the decision to make</a:t>
            </a:r>
            <a:endParaRPr lang="en-US" sz="2500"/>
          </a:p>
        </p:txBody>
      </p:sp>
      <p:sp>
        <p:nvSpPr>
          <p:cNvPr id="3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43000"/>
            <a:ext cx="2651760" cy="1371600"/>
          </a:xfrm>
          <a:prstGeom prst="rect">
            <a:avLst/>
          </a:prstGeom>
          <a:solidFill>
            <a:srgbClr val="16255A"/>
          </a:solidFill>
          <a:ln w="9525">
            <a:solidFill>
              <a:srgbClr val="34D39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₹8M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— 11% of the total pool</a:t>
            </a:r>
            <a:endParaRPr lang="en-US" sz="1100"/>
          </a:p>
        </p:txBody>
      </p:sp>
      <p:sp>
        <p:nvSpPr>
          <p:cNvPr id="6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143000"/>
            <a:ext cx="2651760" cy="1371600"/>
          </a:xfrm>
          <a:prstGeom prst="rect">
            <a:avLst/>
          </a:prstGeom>
          <a:solidFill>
            <a:srgbClr val="16255A"/>
          </a:solidFill>
          <a:ln w="9525">
            <a:solidFill>
              <a:srgbClr val="34D399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8328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2.2K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338328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— smallest volume</a:t>
            </a:r>
            <a:endParaRPr lang="en-US" sz="1100"/>
          </a:p>
        </p:txBody>
      </p:sp>
      <p:sp>
        <p:nvSpPr>
          <p:cNvPr id="9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143000"/>
            <a:ext cx="2651760" cy="1371600"/>
          </a:xfrm>
          <a:prstGeom prst="rect">
            <a:avLst/>
          </a:prstGeom>
          <a:solidFill>
            <a:srgbClr val="16255A"/>
          </a:solidFill>
          <a:ln w="9525">
            <a:solidFill>
              <a:srgbClr val="E052C8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052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₹3.6K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621792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per unit — lowest of four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11480" y="274320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Headphones finish last on net sales, profit, units, and profit per unit.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₹3.6K per unit the product earns 31% less than the portfolio average on every sale.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2.2K units are not negligible — this is a real customer base, not a rounding error.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paths: reprice for margin, bundle it with Smartphone to lift attach rate, or wind it down and redeploy the attention.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DCE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report alone cannot settle this — it shows the gap, not the cause.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11480" y="2926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 with this</a:t>
            </a:r>
            <a:endParaRPr lang="en-US" sz="2500"/>
          </a:p>
        </p:txBody>
      </p:sp>
      <p:sp>
        <p:nvSpPr>
          <p:cNvPr id="3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097280"/>
            <a:ext cx="8321040" cy="749808"/>
          </a:xfrm>
          <a:prstGeom prst="rect">
            <a:avLst/>
          </a:prstGeom>
          <a:solidFill>
            <a:srgbClr val="162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097280"/>
            <a:ext cx="64008" cy="7498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the Smartphone pool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36% of profit and the most exposed to price competition. Defend margin before chasing more volume.</a:t>
            </a:r>
            <a:endParaRPr lang="en-US" sz="1150"/>
          </a:p>
        </p:txBody>
      </p:sp>
      <p:sp>
        <p:nvSpPr>
          <p:cNvPr id="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965960"/>
            <a:ext cx="8321040" cy="749808"/>
          </a:xfrm>
          <a:prstGeom prst="rect">
            <a:avLst/>
          </a:prstGeom>
          <a:solidFill>
            <a:srgbClr val="162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965960"/>
            <a:ext cx="64008" cy="749808"/>
          </a:xfrm>
          <a:prstGeom prst="rect">
            <a:avLst/>
          </a:prstGeom>
          <a:solidFill>
            <a:srgbClr val="E052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052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1887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 Laptop growth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188720" y="2350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profit per unit at ₹8.1K. Additional volume here converts to profit faster than anywhere else.</a:t>
            </a:r>
            <a:endParaRPr lang="en-US" sz="1150"/>
          </a:p>
        </p:txBody>
      </p:sp>
      <p:sp>
        <p:nvSpPr>
          <p:cNvPr id="13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34640"/>
            <a:ext cx="8321040" cy="749808"/>
          </a:xfrm>
          <a:prstGeom prst="rect">
            <a:avLst/>
          </a:prstGeom>
          <a:solidFill>
            <a:srgbClr val="162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34640"/>
            <a:ext cx="64008" cy="749808"/>
          </a:xfrm>
          <a:prstGeom prst="rect">
            <a:avLst/>
          </a:prstGeom>
          <a:solidFill>
            <a:srgbClr val="F5B8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29992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B8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Reprice Tablet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18872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units as Laptop, ₹10M less profit. Test a price move before assuming the demand is soft.</a:t>
            </a:r>
            <a:endParaRPr lang="en-US" sz="1150"/>
          </a:p>
        </p:txBody>
      </p:sp>
      <p:sp>
        <p:nvSpPr>
          <p:cNvPr id="18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703320"/>
            <a:ext cx="8321040" cy="749808"/>
          </a:xfrm>
          <a:prstGeom prst="rect">
            <a:avLst/>
          </a:prstGeom>
          <a:solidFill>
            <a:srgbClr val="1625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703320"/>
            <a:ext cx="64008" cy="7498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867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on Headphones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188720" y="4087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9FB0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Reprice, bundle, or exit — but set a date. Leaving it undecided costs attention every quarter.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checkpoint: re-read the dashboard after Q1 2027 to confirm whether the Q4 lift was seasonal or structural.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1194</Words>
  <Application>Microsoft Office PowerPoint</Application>
  <PresentationFormat>On-screen Show (16:9)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Sales Report 2026</vt:lpstr>
      <vt:lpstr>The year in four numbers</vt:lpstr>
      <vt:lpstr>What the report measures</vt:lpstr>
      <vt:lpstr>₹75M of profit, unevenly earned</vt:lpstr>
      <vt:lpstr>Net sales fall steadily across the product line</vt:lpstr>
      <vt:lpstr>Profit share: two products, two thirds</vt:lpstr>
      <vt:lpstr>Volume tells the same story as value</vt:lpstr>
      <vt:lpstr>Volume and value side by side</vt:lpstr>
      <vt:lpstr>A flat year that finishes strong</vt:lpstr>
      <vt:lpstr>Where the quarters land</vt:lpstr>
      <vt:lpstr>Three product stories</vt:lpstr>
      <vt:lpstr>Smartphone: the volume engine</vt:lpstr>
      <vt:lpstr>Laptop and Tablet: same volume, different value</vt:lpstr>
      <vt:lpstr>Headphones: the decision to make</vt:lpstr>
      <vt:lpstr>What to do with this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Gtec Perumbavoor</dc:creator>
  <cp:lastModifiedBy>Gtec Perumbavoor</cp:lastModifiedBy>
  <cp:revision>1</cp:revision>
  <dcterms:created xsi:type="dcterms:W3CDTF">2026-09-30T04:34:16Z</dcterms:created>
  <dcterms:modified xsi:type="dcterms:W3CDTF">2026-09-30T04:48:40Z</dcterms:modified>
</cp:coreProperties>
</file>