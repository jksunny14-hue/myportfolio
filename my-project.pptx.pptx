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54" d="100"/>
          <a:sy n="54" d="100"/>
        </p:scale>
        <p:origin x="61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spPr>
            <a:solidFill>
              <a:srgbClr val="D6202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Headphones</c:v>
                </c:pt>
                <c:pt idx="1">
                  <c:v>Laptop</c:v>
                </c:pt>
                <c:pt idx="2">
                  <c:v>Smartphone</c:v>
                </c:pt>
                <c:pt idx="3">
                  <c:v>Tablet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38.1</c:v>
                </c:pt>
                <c:pt idx="2">
                  <c:v>34.200000000000003</c:v>
                </c:pt>
                <c:pt idx="3">
                  <c:v>22.7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F0-460B-B5B3-B4FDB3D2DF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C9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2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C8C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571-4EF7-8425-48F9ACF83142}"/>
              </c:ext>
            </c:extLst>
          </c:dPt>
          <c:dPt>
            <c:idx val="1"/>
            <c:bubble3D val="0"/>
            <c:spPr>
              <a:solidFill>
                <a:srgbClr val="D620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571-4EF7-8425-48F9ACF83142}"/>
              </c:ext>
            </c:extLst>
          </c:dPt>
          <c:dPt>
            <c:idx val="2"/>
            <c:bubble3D val="0"/>
            <c:spPr>
              <a:solidFill>
                <a:srgbClr val="3A3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571-4EF7-8425-48F9ACF83142}"/>
              </c:ext>
            </c:extLst>
          </c:dPt>
          <c:dPt>
            <c:idx val="3"/>
            <c:bubble3D val="0"/>
            <c:spPr>
              <a:solidFill>
                <a:srgbClr val="D9D9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571-4EF7-8425-48F9ACF8314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571-4EF7-8425-48F9ACF8314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571-4EF7-8425-48F9ACF8314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571-4EF7-8425-48F9ACF8314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571-4EF7-8425-48F9ACF8314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Headphones</c:v>
                </c:pt>
                <c:pt idx="1">
                  <c:v>Laptop</c:v>
                </c:pt>
                <c:pt idx="2">
                  <c:v>Smartphone</c:v>
                </c:pt>
                <c:pt idx="3">
                  <c:v>Tablet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16.7</c:v>
                </c:pt>
                <c:pt idx="1">
                  <c:v>33.4</c:v>
                </c:pt>
                <c:pt idx="2">
                  <c:v>30</c:v>
                </c:pt>
                <c:pt idx="3">
                  <c:v>19.899999999999999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571-4EF7-8425-48F9ACF831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6E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2F2F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7.2</c:v>
                </c:pt>
                <c:pt idx="1">
                  <c:v>7.6</c:v>
                </c:pt>
                <c:pt idx="2">
                  <c:v>8.1</c:v>
                </c:pt>
                <c:pt idx="3">
                  <c:v>8.4</c:v>
                </c:pt>
                <c:pt idx="4">
                  <c:v>8.9</c:v>
                </c:pt>
                <c:pt idx="5">
                  <c:v>9.3000000000000007</c:v>
                </c:pt>
                <c:pt idx="6">
                  <c:v>9.6</c:v>
                </c:pt>
                <c:pt idx="7">
                  <c:v>10.1</c:v>
                </c:pt>
                <c:pt idx="8">
                  <c:v>10.5</c:v>
                </c:pt>
                <c:pt idx="9">
                  <c:v>11</c:v>
                </c:pt>
                <c:pt idx="10">
                  <c:v>11.4</c:v>
                </c:pt>
                <c:pt idx="11">
                  <c:v>11.9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67-4075-82BA-FF16A08533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C9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2F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First half</c:v>
                </c:pt>
                <c:pt idx="1">
                  <c:v>Second half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49.5</c:v>
                </c:pt>
                <c:pt idx="1">
                  <c:v>64.5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CB-4AAF-8B02-8D1A218BF4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(M)</c:v>
                </c:pt>
              </c:strCache>
            </c:strRef>
          </c:tx>
          <c:spPr>
            <a:solidFill>
              <a:srgbClr val="D6202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First half</c:v>
                </c:pt>
                <c:pt idx="1">
                  <c:v>Second half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16.600000000000001</c:v>
                </c:pt>
                <c:pt idx="1">
                  <c:v>24.3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CB-4AAF-8B02-8D1A218BF4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C9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6E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2F2F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(M)</c:v>
                </c:pt>
              </c:strCache>
            </c:strRef>
          </c:tx>
          <c:spPr>
            <a:ln w="38100" cap="flat">
              <a:solidFill>
                <a:srgbClr val="D6202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202A"/>
              </a:solidFill>
              <a:ln w="9525" cap="flat">
                <a:solidFill>
                  <a:srgbClr val="D6202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</c:v>
                </c:pt>
                <c:pt idx="1">
                  <c:v>2.2999999999999998</c:v>
                </c:pt>
                <c:pt idx="2">
                  <c:v>2.6</c:v>
                </c:pt>
                <c:pt idx="3">
                  <c:v>2.9</c:v>
                </c:pt>
                <c:pt idx="4">
                  <c:v>3.2</c:v>
                </c:pt>
                <c:pt idx="5">
                  <c:v>3.5</c:v>
                </c:pt>
                <c:pt idx="6">
                  <c:v>3.8</c:v>
                </c:pt>
                <c:pt idx="7">
                  <c:v>4.2</c:v>
                </c:pt>
                <c:pt idx="8">
                  <c:v>4.5</c:v>
                </c:pt>
                <c:pt idx="9">
                  <c:v>4.9000000000000004</c:v>
                </c:pt>
                <c:pt idx="10">
                  <c:v>5.3</c:v>
                </c:pt>
                <c:pt idx="11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E57-4FEB-A723-8B3DABF02A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C9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2F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(%)</c:v>
                </c:pt>
              </c:strCache>
            </c:strRef>
          </c:tx>
          <c:spPr>
            <a:ln w="38100" cap="flat">
              <a:solidFill>
                <a:srgbClr val="D6202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202A"/>
              </a:solidFill>
              <a:ln w="9525" cap="flat">
                <a:solidFill>
                  <a:srgbClr val="D6202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29.2</c:v>
                </c:pt>
                <c:pt idx="1">
                  <c:v>30.3</c:v>
                </c:pt>
                <c:pt idx="2">
                  <c:v>32.1</c:v>
                </c:pt>
                <c:pt idx="3">
                  <c:v>34.5</c:v>
                </c:pt>
                <c:pt idx="4">
                  <c:v>36</c:v>
                </c:pt>
                <c:pt idx="5">
                  <c:v>37.6</c:v>
                </c:pt>
                <c:pt idx="6">
                  <c:v>39.6</c:v>
                </c:pt>
                <c:pt idx="7">
                  <c:v>41.6</c:v>
                </c:pt>
                <c:pt idx="8">
                  <c:v>42.9</c:v>
                </c:pt>
                <c:pt idx="9">
                  <c:v>44.5</c:v>
                </c:pt>
                <c:pt idx="10">
                  <c:v>46.5</c:v>
                </c:pt>
                <c:pt idx="11">
                  <c:v>48.7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D70-40D2-963D-17C6CB3801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C9C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2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5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5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18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463040" cy="54864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PERFORMANCE REVIEW</a:t>
            </a:r>
            <a:endParaRPr lang="en-US" sz="120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Report 2026</a:t>
            </a:r>
            <a:endParaRPr lang="en-US" sz="520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Sales, profit and margin across four product lines and twelve months.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illustrative, read from the source dashboard screenshot.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00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deck covers</a:t>
            </a:r>
            <a:endParaRPr lang="en-US" sz="2600"/>
          </a:p>
        </p:txBody>
      </p:sp>
      <p:sp>
        <p:nvSpPr>
          <p:cNvPr id="4" name="Hea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13716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3816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 in numbers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1371600" y="16550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Totals, margin and growth</a:t>
            </a:r>
            <a:endParaRPr lang="en-US" sz="1200"/>
          </a:p>
        </p:txBody>
      </p:sp>
      <p:sp>
        <p:nvSpPr>
          <p:cNvPr id="9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02536"/>
            <a:ext cx="8046720" cy="9144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1671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/>
          </a:p>
        </p:txBody>
      </p:sp>
      <p:sp>
        <p:nvSpPr>
          <p:cNvPr id="11" name="Text 9"/>
          <p:cNvSpPr/>
          <p:nvPr/>
        </p:nvSpPr>
        <p:spPr>
          <a:xfrm>
            <a:off x="1371600" y="2167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performance</a:t>
            </a:r>
            <a:endParaRPr lang="en-US" sz="1700"/>
          </a:p>
        </p:txBody>
      </p:sp>
      <p:sp>
        <p:nvSpPr>
          <p:cNvPr id="12" name="Text 10"/>
          <p:cNvSpPr/>
          <p:nvPr/>
        </p:nvSpPr>
        <p:spPr>
          <a:xfrm>
            <a:off x="1371600" y="2496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lines carry the business</a:t>
            </a:r>
            <a:endParaRPr lang="en-US" sz="1200"/>
          </a:p>
        </p:txBody>
      </p:sp>
      <p:sp>
        <p:nvSpPr>
          <p:cNvPr id="13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843784"/>
            <a:ext cx="8046720" cy="9144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00837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1371600" y="3008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monthly story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1371600" y="3337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Sales, profit and margin over time</a:t>
            </a:r>
            <a:endParaRPr lang="en-US" sz="1200"/>
          </a:p>
        </p:txBody>
      </p:sp>
      <p:sp>
        <p:nvSpPr>
          <p:cNvPr id="17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85032"/>
            <a:ext cx="8046720" cy="9144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8496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/>
          </a:p>
        </p:txBody>
      </p:sp>
      <p:sp>
        <p:nvSpPr>
          <p:cNvPr id="19" name="Text 17"/>
          <p:cNvSpPr/>
          <p:nvPr/>
        </p:nvSpPr>
        <p:spPr>
          <a:xfrm>
            <a:off x="1371600" y="38496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next</a:t>
            </a:r>
            <a:endParaRPr lang="en-US" sz="1700"/>
          </a:p>
        </p:txBody>
      </p:sp>
      <p:sp>
        <p:nvSpPr>
          <p:cNvPr id="20" name="Text 18"/>
          <p:cNvSpPr/>
          <p:nvPr/>
        </p:nvSpPr>
        <p:spPr>
          <a:xfrm>
            <a:off x="1371600" y="4178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Risks, priorities and owners</a:t>
            </a:r>
            <a:endParaRPr lang="en-US" sz="1200"/>
          </a:p>
        </p:txBody>
      </p:sp>
      <p:sp>
        <p:nvSpPr>
          <p:cNvPr id="21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526280"/>
            <a:ext cx="8046720" cy="9144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 in numbers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Totals, margin and the shape of growth</a:t>
            </a:r>
            <a:endParaRPr lang="en-US" sz="150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 IN NUMBERS</a:t>
            </a:r>
            <a:endParaRPr lang="en-US" sz="100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year on every headline measure</a:t>
            </a:r>
            <a:endParaRPr lang="en-US" sz="2600"/>
          </a:p>
        </p:txBody>
      </p:sp>
      <p:sp>
        <p:nvSpPr>
          <p:cNvPr id="4" name="Hea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13716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3816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/>
          </a:p>
        </p:txBody>
      </p:sp>
      <p:sp>
        <p:nvSpPr>
          <p:cNvPr id="6" name="KPI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188366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1883664" cy="4572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13232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114.0M</a:t>
            </a:r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713232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100"/>
          </a:p>
        </p:txBody>
      </p:sp>
      <p:sp>
        <p:nvSpPr>
          <p:cNvPr id="10" name="KPI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6896" y="1371600"/>
            <a:ext cx="188366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6896" y="1371600"/>
            <a:ext cx="1883664" cy="4572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61488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40.9M</a:t>
            </a:r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2761488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  <a:endParaRPr lang="en-US" sz="1100"/>
          </a:p>
        </p:txBody>
      </p:sp>
      <p:sp>
        <p:nvSpPr>
          <p:cNvPr id="14" name="KPI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188366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1883664" cy="4572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09744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35.9%</a:t>
            </a:r>
            <a:endParaRPr lang="en-US" sz="3200"/>
          </a:p>
        </p:txBody>
      </p:sp>
      <p:sp>
        <p:nvSpPr>
          <p:cNvPr id="17" name="Text 15"/>
          <p:cNvSpPr/>
          <p:nvPr/>
        </p:nvSpPr>
        <p:spPr>
          <a:xfrm>
            <a:off x="4809744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100"/>
          </a:p>
        </p:txBody>
      </p:sp>
      <p:sp>
        <p:nvSpPr>
          <p:cNvPr id="18" name="KPI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3408" y="1371600"/>
            <a:ext cx="188366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3408" y="1371600"/>
            <a:ext cx="1883664" cy="4572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0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+65%</a:t>
            </a:r>
            <a:endParaRPr lang="en-US" sz="3200"/>
          </a:p>
        </p:txBody>
      </p:sp>
      <p:sp>
        <p:nvSpPr>
          <p:cNvPr id="21" name="Text 19"/>
          <p:cNvSpPr/>
          <p:nvPr/>
        </p:nvSpPr>
        <p:spPr>
          <a:xfrm>
            <a:off x="685800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to Dec growth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and smartphone together account for 63% of sales.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month grew on the one before, with no seasonal dip.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grew faster than sales, lifting margin through the year.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 IN NUMBERS</a:t>
            </a:r>
            <a:endParaRPr lang="en-US" sz="100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 report</a:t>
            </a:r>
            <a:endParaRPr lang="en-US" sz="2600"/>
          </a:p>
        </p:txBody>
      </p:sp>
      <p:sp>
        <p:nvSpPr>
          <p:cNvPr id="4" name="Hea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13716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3816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/>
          </a:p>
        </p:txBody>
      </p:sp>
      <p:sp>
        <p:nvSpPr>
          <p:cNvPr id="6" name="Row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472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2286000" y="147218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sales dashboard filtered by product and month.</a:t>
            </a:r>
            <a:endParaRPr lang="en-US" sz="1300"/>
          </a:p>
        </p:txBody>
      </p:sp>
      <p:sp>
        <p:nvSpPr>
          <p:cNvPr id="9" name="Row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30552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276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2286000" y="22768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product lines across all twelve months of 2026.</a:t>
            </a:r>
            <a:endParaRPr lang="en-US" sz="1300"/>
          </a:p>
        </p:txBody>
      </p:sp>
      <p:sp>
        <p:nvSpPr>
          <p:cNvPr id="12" name="Row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35224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3081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2286000" y="30815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Sales, profit and the margin between them, in millions.</a:t>
            </a:r>
            <a:endParaRPr lang="en-US" sz="1300"/>
          </a:p>
        </p:txBody>
      </p:sp>
      <p:sp>
        <p:nvSpPr>
          <p:cNvPr id="15" name="Row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39896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2286000" y="38862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are read from the dashboard view and rounded for clarity.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performance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lines carry the business</a:t>
            </a:r>
            <a:endParaRPr lang="en-US" sz="150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PERFORMANCE</a:t>
            </a:r>
            <a:endParaRPr lang="en-US" sz="100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is the largest line by a clear margin</a:t>
            </a:r>
            <a:endParaRPr lang="en-US" sz="2600"/>
          </a:p>
        </p:txBody>
      </p:sp>
      <p:sp>
        <p:nvSpPr>
          <p:cNvPr id="4" name="Hea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13716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3816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/>
          </a:p>
        </p:txBody>
      </p:sp>
      <p:graphicFrame>
        <p:nvGraphicFramePr>
          <p:cNvPr id="6" name="Sales by product chart" descr="Column chart of 2026 sales in millions: Headphones 19.0, Laptop 38.1, Smartphone 34.2, Tablet 22.7"/>
          <p:cNvGraphicFramePr/>
          <p:nvPr/>
        </p:nvGraphicFramePr>
        <p:xfrm>
          <a:off x="457200" y="1234440"/>
          <a:ext cx="5394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Note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23444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234440"/>
            <a:ext cx="2468880" cy="4572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27648" y="14630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6327648" y="1856232"/>
            <a:ext cx="20665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leads at 38.1M, a third of all sales.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follows at 34.2M.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Headphones is the smallest line at 19.0M.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PERFORMANCE</a:t>
            </a:r>
            <a:endParaRPr lang="en-US" sz="100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 make up two thirds of the mix</a:t>
            </a:r>
            <a:endParaRPr lang="en-US" sz="2600"/>
          </a:p>
        </p:txBody>
      </p:sp>
      <p:sp>
        <p:nvSpPr>
          <p:cNvPr id="4" name="Hea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13716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3816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/>
          </a:p>
        </p:txBody>
      </p:sp>
      <p:graphicFrame>
        <p:nvGraphicFramePr>
          <p:cNvPr id="6" name="Product mix chart" descr="Doughnut chart of sales share: Laptop 33.4%, Smartphone 30.0%, Tablet 19.9%, Headphones 16.7%"/>
          <p:cNvGraphicFramePr/>
          <p:nvPr/>
        </p:nvGraphicFramePr>
        <p:xfrm>
          <a:off x="457200" y="1234440"/>
          <a:ext cx="49377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Note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0720" y="123444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0720" y="1234440"/>
            <a:ext cx="2834640" cy="4572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961888" y="146304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5961888" y="1856232"/>
            <a:ext cx="24323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and smartphone are 63% of revenue.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shock to either line would be felt immediately.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 and headphones are the natural place to diversify.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PERFORMANCE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scorecard</a:t>
            </a:r>
            <a:endParaRPr lang="en-US" sz="2600" dirty="0"/>
          </a:p>
        </p:txBody>
      </p:sp>
      <p:sp>
        <p:nvSpPr>
          <p:cNvPr id="4" name="Hea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13716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3816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3042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(M)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revenue engine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Smartphone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second, steady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Solid mid-tier 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Headphones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Smallest, highest upside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allou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114800"/>
            <a:ext cx="45720" cy="41148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77240" y="411480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two lines out-sell the bottom two by roughly three to two.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monthly story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Sales, profit and margin over time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MONTHLY STORY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rose in every month of the year</a:t>
            </a:r>
            <a:endParaRPr lang="en-US" sz="2600" dirty="0"/>
          </a:p>
        </p:txBody>
      </p:sp>
      <p:sp>
        <p:nvSpPr>
          <p:cNvPr id="4" name="Hea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13716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3816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6" name="Monthly sales chart" descr="Column chart of monthly sales in millions rising from 7.2 in January to 11.9 in December"/>
          <p:cNvGraphicFramePr/>
          <p:nvPr/>
        </p:nvGraphicFramePr>
        <p:xfrm>
          <a:off x="457200" y="1234440"/>
          <a:ext cx="82296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allou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206240"/>
            <a:ext cx="45720" cy="41148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77240" y="42062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sales are 65% above January, an unbroken twelve-month climb.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MONTHLY STORY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half did the heavy lifting</a:t>
            </a:r>
            <a:endParaRPr lang="en-US" sz="2600" dirty="0"/>
          </a:p>
        </p:txBody>
      </p:sp>
      <p:sp>
        <p:nvSpPr>
          <p:cNvPr id="4" name="Hea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13716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3816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6" name="Half year comparison chart" descr="Grouped column chart: first half sales 49.5M and profit 16.6M, second half sales 64.5M and profit 24.3M"/>
          <p:cNvGraphicFramePr/>
          <p:nvPr/>
        </p:nvGraphicFramePr>
        <p:xfrm>
          <a:off x="457200" y="1234440"/>
          <a:ext cx="5394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Note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23444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234440"/>
            <a:ext cx="2468880" cy="4572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27648" y="14630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on half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27648" y="1856232"/>
            <a:ext cx="20665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up 30% in the second half.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up 46% on the same basis.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widened from 33.5% to 37.7%.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MONTHLY STORY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nearly tripled across the year</a:t>
            </a:r>
            <a:endParaRPr lang="en-US" sz="2600" dirty="0"/>
          </a:p>
        </p:txBody>
      </p:sp>
      <p:sp>
        <p:nvSpPr>
          <p:cNvPr id="4" name="Hea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13716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3816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6" name="Profit trend chart" descr="Line chart of monthly profit in millions rising from 2.1 in January to 5.8 in December"/>
          <p:cNvGraphicFramePr/>
          <p:nvPr/>
        </p:nvGraphicFramePr>
        <p:xfrm>
          <a:off x="457200" y="1234440"/>
          <a:ext cx="5394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Note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23444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234440"/>
            <a:ext cx="2468880" cy="4572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27648" y="14630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27648" y="1856232"/>
            <a:ext cx="20665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profit is 2.8x January.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month fell below the one before it.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steepest gains came after August.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MONTHLY STORY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widened month after month</a:t>
            </a:r>
            <a:endParaRPr lang="en-US" sz="2600" dirty="0"/>
          </a:p>
        </p:txBody>
      </p:sp>
      <p:sp>
        <p:nvSpPr>
          <p:cNvPr id="4" name="Hea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13716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3816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6" name="Profit margin trend chart" descr="Line chart of monthly profit margin rising from about 29% in January to about 49% in December"/>
          <p:cNvGraphicFramePr/>
          <p:nvPr/>
        </p:nvGraphicFramePr>
        <p:xfrm>
          <a:off x="457200" y="1234440"/>
          <a:ext cx="82296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allou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206240"/>
            <a:ext cx="45720" cy="41148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77240" y="420624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climbed roughly 20 points, so growth came with better economics, not discounting.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NEXT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priorities for 2027</a:t>
            </a:r>
            <a:endParaRPr lang="en-US" sz="2600" dirty="0"/>
          </a:p>
        </p:txBody>
      </p:sp>
      <p:sp>
        <p:nvSpPr>
          <p:cNvPr id="4" name="Hea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13716"/>
          </a:xfrm>
          <a:prstGeom prst="rect">
            <a:avLst/>
          </a:prstGeom>
          <a:solidFill>
            <a:srgbClr val="C9C9C5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3816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Priority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3931920" cy="4572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49808" y="15270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527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core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892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 laptop and smartphone volume; they carry 63% of sales.</a:t>
            </a:r>
            <a:endParaRPr lang="en-US" sz="1200" dirty="0"/>
          </a:p>
        </p:txBody>
      </p:sp>
      <p:sp>
        <p:nvSpPr>
          <p:cNvPr id="11" name="Priority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258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25880"/>
            <a:ext cx="3931920" cy="4572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64608" y="15270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1527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tail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1892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promotion and bundling on tablet and headphones without cutting margin.</a:t>
            </a:r>
            <a:endParaRPr lang="en-US" sz="1200" dirty="0"/>
          </a:p>
        </p:txBody>
      </p:sp>
      <p:sp>
        <p:nvSpPr>
          <p:cNvPr id="16" name="Priority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175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17520"/>
            <a:ext cx="3931920" cy="4572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9808" y="3218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the margin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5844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drove the 20-point margin gain and make it repeatable.</a:t>
            </a:r>
            <a:endParaRPr lang="en-US" sz="1200" dirty="0"/>
          </a:p>
        </p:txBody>
      </p:sp>
      <p:sp>
        <p:nvSpPr>
          <p:cNvPr id="21" name="Priority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0175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017520"/>
            <a:ext cx="3931920" cy="45720"/>
          </a:xfrm>
          <a:prstGeom prst="rect">
            <a:avLst/>
          </a:prstGeom>
          <a:solidFill>
            <a:srgbClr val="D6202A"/>
          </a:solidFill>
          <a:ln w="12700">
            <a:solidFill>
              <a:srgbClr val="D620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64608" y="3218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curve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40680" y="35844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2027 targets off second-half run rate, not the annual average.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593</Words>
  <Application>Microsoft Office PowerPoint</Application>
  <PresentationFormat>On-screen Show (16:9)</PresentationFormat>
  <Paragraphs>151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Sales Report 2026</vt:lpstr>
      <vt:lpstr>What this deck covers</vt:lpstr>
      <vt:lpstr>The year in numbers</vt:lpstr>
      <vt:lpstr>A record year on every headline measure</vt:lpstr>
      <vt:lpstr>How to read this report</vt:lpstr>
      <vt:lpstr>Product performance</vt:lpstr>
      <vt:lpstr>Laptop is the largest line by a clear margin</vt:lpstr>
      <vt:lpstr>Two lines make up two thirds of the mix</vt:lpstr>
      <vt:lpstr>Product scorecard</vt:lpstr>
      <vt:lpstr>The monthly story</vt:lpstr>
      <vt:lpstr>Sales rose in every month of the year</vt:lpstr>
      <vt:lpstr>The second half did the heavy lifting</vt:lpstr>
      <vt:lpstr>Profit nearly tripled across the year</vt:lpstr>
      <vt:lpstr>Margin widened month after month</vt:lpstr>
      <vt:lpstr>Four priorities for 2027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Gtec Perumbavoor</dc:creator>
  <cp:lastModifiedBy>Gtec Perumbavoor</cp:lastModifiedBy>
  <cp:revision>1</cp:revision>
  <dcterms:created xsi:type="dcterms:W3CDTF">2026-09-30T04:43:17Z</dcterms:created>
  <dcterms:modified xsi:type="dcterms:W3CDTF">2026-09-30T04:57:42Z</dcterms:modified>
</cp:coreProperties>
</file>